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640080"/>
            <a:ext cx="1188720" cy="1188720"/>
          </a:xfrm>
          <a:prstGeom prst="ellipse">
            <a:avLst/>
          </a:prstGeom>
          <a:solidFill>
            <a:srgbClr val="1A503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256" y="87782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286000"/>
            <a:ext cx="9144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GuichetIA</a:t>
            </a:r>
            <a:endParaRPr lang="en-US" sz="5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9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administratif intelligent pour le Burkina Faso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640080" y="388620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FE3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 7 - Assistant Juridique et Administratif (Citoyennete)  |  Architecture RAG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640080" y="5623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1 IFOAD - Data Science 2026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: OUEDRAOGO Zeid El Gazeli . DICKO Mamoudou . OUEDRAOGO Abdoul Kader W. Ghislan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Enseignant : Dr Delwende D. Arthur Sawadogo  -  Soutenance du lundi 13 juillet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 probleme : des demarches mal comprises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Obtenir une CNIB, un passeport, ou creer une entreprise au Burkina Faso reste source de confusion pour de nombreux citoyens.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205740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3774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" y="250545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222199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Information dispersee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783080" y="262432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Pieces, couts et delais repartis sur plusieurs portails, parfois contradictoires.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48640" y="352044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868680" y="384048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396849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783080" y="368503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Demarches qui changent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1783080" y="408736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Refonte du portail service-public.gov.bf en 2026 : procedures et fiches instables.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48640" y="4983480"/>
            <a:ext cx="11064240" cy="1280160"/>
          </a:xfrm>
          <a:prstGeom prst="roundRect">
            <a:avLst>
              <a:gd name="adj" fmla="val 5714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68680" y="530352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54315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783080" y="5148072"/>
            <a:ext cx="9509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 de guichet unique conversationnel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783080" y="5550408"/>
            <a:ext cx="9509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Aucun outil ne permet de poser une question en langage naturel et d'obtenir une reponse sourcee.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Objectifs du projet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868680" y="1709928"/>
            <a:ext cx="685800" cy="685800"/>
          </a:xfrm>
          <a:prstGeom prst="ellipse">
            <a:avLst/>
          </a:prstGeom>
          <a:solidFill>
            <a:srgbClr val="1F6F4D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847088"/>
            <a:ext cx="411480" cy="411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68680" y="25146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Depasser le chatbot simple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68680" y="2926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agent qui recherche dans une base verifiee avant de repondre, plutot qu'une simple conversation generative.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263640" y="141732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6583680" y="1709928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0840" y="1847088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583680" y="251460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Base de connaissances fiable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6583680" y="292608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officiel verifie manuellement, indexe dans une base vectorielle persistante.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886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868680" y="4178808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4315968"/>
            <a:ext cx="411480" cy="41148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868680" y="49834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Reponses sourcees, sans invention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868680" y="5394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Chaque reponse cite la demarche source ; aucune reponse hors contexte n'est inventee.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6263640" y="3886200"/>
            <a:ext cx="5349240" cy="2148840"/>
          </a:xfrm>
          <a:prstGeom prst="roundRect">
            <a:avLst>
              <a:gd name="adj" fmla="val 4255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583680" y="4178808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0" y="4315968"/>
            <a:ext cx="411480" cy="41148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583680" y="4983480"/>
            <a:ext cx="4709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Couvrir 3 demarches cles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6583680" y="539496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CNIB, passeport ordinaire, creation d'entreprise - les demarches les plus demandees.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Option 7 - Perimetre fonctionnel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Juridique et Administratif (Citoyennete) - trois demarches couvertes en profondeur, sourcees officiellement.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51660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34540" y="2697480"/>
            <a:ext cx="548640" cy="548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CNIB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22960" y="4206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a fournir, cout (2 500 F CFA), delai (7 a 30 jours), duplicata en cas de perte.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43400" y="21031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46420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29300" y="2697480"/>
            <a:ext cx="548640" cy="54864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Passeport ordinaire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4617720" y="4206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selon profil (majeur, mineur, militaire), cout (50 000 F + timbre 200 F), delai 72h.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38160" y="2103120"/>
            <a:ext cx="3520440" cy="3840480"/>
          </a:xfrm>
          <a:prstGeom prst="roundRect">
            <a:avLst>
              <a:gd name="adj" fmla="val 2597"/>
            </a:avLst>
          </a:prstGeom>
          <a:solidFill>
            <a:srgbClr val="F1F6F2"/>
          </a:solidFill>
          <a:ln/>
          <a:effectLst>
            <a:outerShdw sx="100000" sy="100000" kx="0" ky="0" algn="bl" rotWithShape="0" blurRad="101600" dist="381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441180" y="2514600"/>
            <a:ext cx="914400" cy="9144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4060" y="2697480"/>
            <a:ext cx="548640" cy="54864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66760" y="36576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Creation d'entreprise</a:t>
            </a:r>
            <a:endParaRPr lang="en-US" sz="1800" dirty="0"/>
          </a:p>
        </p:txBody>
      </p:sp>
      <p:sp>
        <p:nvSpPr>
          <p:cNvPr id="18" name="Text 13"/>
          <p:cNvSpPr/>
          <p:nvPr/>
        </p:nvSpPr>
        <p:spPr>
          <a:xfrm>
            <a:off x="8412480" y="420624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 physique ou morale, formalites RCCM / IFU / CNSS, delai d'environ 3 mois.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Architecture du pipeline RAG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028700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56716" y="18653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PDFs sources</a:t>
            </a:r>
            <a:endParaRPr lang="en-US" sz="1150" dirty="0"/>
          </a:p>
        </p:txBody>
      </p:sp>
      <p:sp>
        <p:nvSpPr>
          <p:cNvPr id="7" name="Shape 4"/>
          <p:cNvSpPr/>
          <p:nvPr/>
        </p:nvSpPr>
        <p:spPr>
          <a:xfrm>
            <a:off x="2202497" y="2176272"/>
            <a:ext cx="190780" cy="219456"/>
          </a:xfrm>
          <a:prstGeom prst="rightArrow">
            <a:avLst/>
          </a:prstGeom>
          <a:solidFill>
            <a:srgbClr val="D9A537"/>
          </a:solidFill>
          <a:ln/>
        </p:spPr>
      </p:sp>
      <p:sp>
        <p:nvSpPr>
          <p:cNvPr id="8" name="Shape 5"/>
          <p:cNvSpPr/>
          <p:nvPr/>
        </p:nvSpPr>
        <p:spPr>
          <a:xfrm>
            <a:off x="2446934" y="155448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926994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5010" y="1865376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355494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Chunking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4100791" y="2176272"/>
            <a:ext cx="190780" cy="219456"/>
          </a:xfrm>
          <a:prstGeom prst="rightArrow">
            <a:avLst/>
          </a:prstGeom>
          <a:solidFill>
            <a:srgbClr val="D9A537"/>
          </a:solidFill>
          <a:ln/>
        </p:spPr>
      </p:sp>
      <p:sp>
        <p:nvSpPr>
          <p:cNvPr id="13" name="Shape 9"/>
          <p:cNvSpPr/>
          <p:nvPr/>
        </p:nvSpPr>
        <p:spPr>
          <a:xfrm>
            <a:off x="4345229" y="155448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4825289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305" y="1865376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253789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Embeddings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999086" y="2176272"/>
            <a:ext cx="190780" cy="219456"/>
          </a:xfrm>
          <a:prstGeom prst="rightArrow">
            <a:avLst/>
          </a:prstGeom>
          <a:solidFill>
            <a:srgbClr val="D9A537"/>
          </a:solidFill>
          <a:ln/>
        </p:spPr>
      </p:sp>
      <p:sp>
        <p:nvSpPr>
          <p:cNvPr id="18" name="Shape 13"/>
          <p:cNvSpPr/>
          <p:nvPr/>
        </p:nvSpPr>
        <p:spPr>
          <a:xfrm>
            <a:off x="6243523" y="155448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6723583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1599" y="1865376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152083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7897380" y="2176272"/>
            <a:ext cx="190780" cy="219456"/>
          </a:xfrm>
          <a:prstGeom prst="rightArrow">
            <a:avLst/>
          </a:prstGeom>
          <a:solidFill>
            <a:srgbClr val="D9A537"/>
          </a:solidFill>
          <a:ln/>
        </p:spPr>
      </p:sp>
      <p:sp>
        <p:nvSpPr>
          <p:cNvPr id="23" name="Shape 17"/>
          <p:cNvSpPr/>
          <p:nvPr/>
        </p:nvSpPr>
        <p:spPr>
          <a:xfrm>
            <a:off x="8141818" y="155448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8621878" y="1737360"/>
            <a:ext cx="640080" cy="640080"/>
          </a:xfrm>
          <a:prstGeom prst="ellipse">
            <a:avLst/>
          </a:prstGeom>
          <a:solidFill>
            <a:srgbClr val="1F6F4D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49894" y="1865376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8050378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Groq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9795675" y="2176272"/>
            <a:ext cx="190780" cy="219456"/>
          </a:xfrm>
          <a:prstGeom prst="rightArrow">
            <a:avLst/>
          </a:prstGeom>
          <a:solidFill>
            <a:srgbClr val="D9A537"/>
          </a:solidFill>
          <a:ln/>
        </p:spPr>
      </p:sp>
      <p:sp>
        <p:nvSpPr>
          <p:cNvPr id="28" name="Shape 21"/>
          <p:cNvSpPr/>
          <p:nvPr/>
        </p:nvSpPr>
        <p:spPr>
          <a:xfrm>
            <a:off x="10040112" y="1554480"/>
            <a:ext cx="160020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10520172" y="173736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48188" y="1865376"/>
            <a:ext cx="384048" cy="384048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9948672" y="246888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</a:t>
            </a:r>
            <a:endParaRPr lang="en-US" sz="1150" dirty="0"/>
          </a:p>
        </p:txBody>
      </p:sp>
      <p:sp>
        <p:nvSpPr>
          <p:cNvPr id="32" name="Text 24"/>
          <p:cNvSpPr/>
          <p:nvPr/>
        </p:nvSpPr>
        <p:spPr>
          <a:xfrm>
            <a:off x="548640" y="32461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transforme un document officiel en reponse verifiable : extraction, decoupage, vectorisation, recherche, puis generation contextualisee.</a:t>
            </a:r>
            <a:endParaRPr lang="en-US" sz="1350" dirty="0"/>
          </a:p>
        </p:txBody>
      </p:sp>
      <p:sp>
        <p:nvSpPr>
          <p:cNvPr id="33" name="Shape 25"/>
          <p:cNvSpPr/>
          <p:nvPr/>
        </p:nvSpPr>
        <p:spPr>
          <a:xfrm>
            <a:off x="548640" y="3977640"/>
            <a:ext cx="11064240" cy="1188720"/>
          </a:xfrm>
          <a:prstGeom prst="roundRect">
            <a:avLst>
              <a:gd name="adj" fmla="val 6154"/>
            </a:avLst>
          </a:prstGeom>
          <a:solidFill>
            <a:srgbClr val="F1F6F2"/>
          </a:solidFill>
          <a:ln/>
        </p:spPr>
      </p:sp>
      <p:sp>
        <p:nvSpPr>
          <p:cNvPr id="34" name="Text 26"/>
          <p:cNvSpPr/>
          <p:nvPr/>
        </p:nvSpPr>
        <p:spPr>
          <a:xfrm>
            <a:off x="822960" y="429768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(React + Tailwind)  </a:t>
            </a:r>
            <a:pPr algn="ctr" indent="0" marL="0">
              <a:buNone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requete HTTP -&gt;  </a:t>
            </a:r>
            <a:pPr algn="ctr" indent="0" marL="0">
              <a:buNone/>
            </a:pPr>
            <a:r>
              <a:rPr lang="en-US" sz="140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FastAPI  </a:t>
            </a:r>
            <a:pPr algn="ctr" indent="0" marL="0">
              <a:buNone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-&gt; recherche vectorielle + appel LLM -&gt;  </a:t>
            </a:r>
            <a:pPr algn="ctr" indent="0" marL="0">
              <a:buNone/>
            </a:pPr>
            <a:r>
              <a:rPr lang="en-US" sz="1400" b="1" dirty="0">
                <a:solidFill>
                  <a:srgbClr val="1F6F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Reponse + sources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Stack technique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6424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786384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Etape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Outil retenu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F6F4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Collecte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PyMuPDF - extraction du texte des PDFs sources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Chunking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 RecursiveCharacterTextSplitter (500 / 50 recouvrement)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Embeddings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sentence-transformers multilingual-MiniLM (HuggingFace, gratuit)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vectorielle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ChromaDB (locale, persistante)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API - llama-3.1-8b-instant (gratuit, tres rapide)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Orchestration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LangChain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+ Python (/health, /ask)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+ Tailwind CSS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Deploiement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2329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(backend) + Vercel (frontend)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E3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 clic a la reponse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517904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1618488"/>
            <a:ext cx="301752" cy="30175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3716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Question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120640" y="1463040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L'utilisateur pose une question en francais dans l'interface de chat.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0080" y="250545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2606040"/>
            <a:ext cx="301752" cy="30175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245059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Recherche vectorielle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120640" y="2450592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renvoie les 4 segments les plus proches semantiquement.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40080" y="3493008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" y="3593592"/>
            <a:ext cx="301752" cy="30175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71600" y="3438144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Construction du contexte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5120640" y="3438144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segments recuperes sont assembles en contexte pour le LLM.</a:t>
            </a:r>
            <a:endParaRPr lang="en-US" sz="1300" dirty="0"/>
          </a:p>
        </p:txBody>
      </p:sp>
      <p:sp>
        <p:nvSpPr>
          <p:cNvPr id="15" name="Shape 10"/>
          <p:cNvSpPr/>
          <p:nvPr/>
        </p:nvSpPr>
        <p:spPr>
          <a:xfrm>
            <a:off x="640080" y="4480560"/>
            <a:ext cx="502920" cy="502920"/>
          </a:xfrm>
          <a:prstGeom prst="ellipse">
            <a:avLst/>
          </a:prstGeom>
          <a:solidFill>
            <a:srgbClr val="1F6F4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581144"/>
            <a:ext cx="301752" cy="30175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71600" y="4425696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Appel du LLM (Groq)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5120640" y="4425696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modele repond uniquement a partir du contexte fourni, sans invention.</a:t>
            </a:r>
            <a:endParaRPr lang="en-US" sz="1300" dirty="0"/>
          </a:p>
        </p:txBody>
      </p:sp>
      <p:sp>
        <p:nvSpPr>
          <p:cNvPr id="19" name="Shape 13"/>
          <p:cNvSpPr/>
          <p:nvPr/>
        </p:nvSpPr>
        <p:spPr>
          <a:xfrm>
            <a:off x="640080" y="5468112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5568696"/>
            <a:ext cx="301752" cy="30175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371600" y="54132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Reponse + sources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5120640" y="5413248"/>
            <a:ext cx="6492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reponse est renvoyee avec la ou les demarches sources utilisees.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 officielles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Contenu verifie manuellement sur les portails officiels, puis compile en PDFs sources versionnes et indexes.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2950" y="2023110"/>
            <a:ext cx="251460" cy="2514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80160" y="193852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police.gov.bf/index.php/infos-utiles/cnib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51460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950" y="2617470"/>
            <a:ext cx="251460" cy="2514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80160" y="253288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service-public.gov.bf - demande de CNIB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40080" y="31089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950" y="3211830"/>
            <a:ext cx="251460" cy="2514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80160" y="312724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police.gov.bf/index.php/infos-utiles/passeport</a:t>
            </a:r>
            <a:endParaRPr lang="en-US" sz="1400" dirty="0"/>
          </a:p>
        </p:txBody>
      </p:sp>
      <p:sp>
        <p:nvSpPr>
          <p:cNvPr id="13" name="Shape 8"/>
          <p:cNvSpPr/>
          <p:nvPr/>
        </p:nvSpPr>
        <p:spPr>
          <a:xfrm>
            <a:off x="640080" y="370332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2950" y="3806190"/>
            <a:ext cx="251460" cy="2514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80160" y="372160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service-public.gov.bf - creation d'entreprise (personne physique)</a:t>
            </a:r>
            <a:endParaRPr lang="en-US" sz="1400" dirty="0"/>
          </a:p>
        </p:txBody>
      </p:sp>
      <p:sp>
        <p:nvSpPr>
          <p:cNvPr id="16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2950" y="4400550"/>
            <a:ext cx="251460" cy="25146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80160" y="4315968"/>
            <a:ext cx="98755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service-public.gov.bf - creation d'entreprise (personne morale)</a:t>
            </a:r>
            <a:endParaRPr lang="en-US" sz="1400" dirty="0"/>
          </a:p>
        </p:txBody>
      </p:sp>
      <p:sp>
        <p:nvSpPr>
          <p:cNvPr id="19" name="Shape 12"/>
          <p:cNvSpPr/>
          <p:nvPr/>
        </p:nvSpPr>
        <p:spPr>
          <a:xfrm>
            <a:off x="548640" y="512064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1F6F2"/>
          </a:solidFill>
          <a:ln/>
        </p:spPr>
      </p:sp>
      <p:sp>
        <p:nvSpPr>
          <p:cNvPr id="20" name="Shape 13"/>
          <p:cNvSpPr/>
          <p:nvPr/>
        </p:nvSpPr>
        <p:spPr>
          <a:xfrm>
            <a:off x="777240" y="5349240"/>
            <a:ext cx="640080" cy="64008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256" y="5477256"/>
            <a:ext cx="384048" cy="38404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600200" y="5285232"/>
            <a:ext cx="9692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premiere version reposait sur du scraping HTML direct. Abandonnee apres la refonte du portail (mai 2026) au profit de PDFs sources stables et reproductibles.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Interface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de chat React + Tailwind, simple et accessible, avec citation systematique des sources.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194560" y="1828800"/>
            <a:ext cx="7772400" cy="457200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94560" y="1828800"/>
            <a:ext cx="7772400" cy="411480"/>
          </a:xfrm>
          <a:prstGeom prst="roundRect">
            <a:avLst>
              <a:gd name="adj" fmla="val 13333"/>
            </a:avLst>
          </a:prstGeom>
          <a:solidFill>
            <a:srgbClr val="1F6F4D"/>
          </a:solidFill>
          <a:ln/>
        </p:spPr>
      </p:sp>
      <p:sp>
        <p:nvSpPr>
          <p:cNvPr id="6" name="Text 4"/>
          <p:cNvSpPr/>
          <p:nvPr/>
        </p:nvSpPr>
        <p:spPr>
          <a:xfrm>
            <a:off x="2423160" y="1828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GuichetIA - Assistant administratif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212080" y="2560320"/>
            <a:ext cx="4480560" cy="640080"/>
          </a:xfrm>
          <a:prstGeom prst="roundRect">
            <a:avLst>
              <a:gd name="adj" fmla="val 17143"/>
            </a:avLst>
          </a:prstGeom>
          <a:solidFill>
            <a:srgbClr val="D9A537"/>
          </a:solidFill>
          <a:ln/>
        </p:spPr>
      </p:sp>
      <p:sp>
        <p:nvSpPr>
          <p:cNvPr id="8" name="Text 6"/>
          <p:cNvSpPr/>
          <p:nvPr/>
        </p:nvSpPr>
        <p:spPr>
          <a:xfrm>
            <a:off x="5394960" y="256032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Quelles pieces pour faire ma CNIB 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468880" y="3383280"/>
            <a:ext cx="5852160" cy="1737360"/>
          </a:xfrm>
          <a:prstGeom prst="roundRect">
            <a:avLst>
              <a:gd name="adj" fmla="val 6316"/>
            </a:avLst>
          </a:prstGeom>
          <a:solidFill>
            <a:srgbClr val="F1F6F2"/>
          </a:solidFill>
          <a:ln/>
        </p:spPr>
      </p:sp>
      <p:sp>
        <p:nvSpPr>
          <p:cNvPr id="10" name="Text 8"/>
          <p:cNvSpPr/>
          <p:nvPr/>
        </p:nvSpPr>
        <p:spPr>
          <a:xfrm>
            <a:off x="2697480" y="3520440"/>
            <a:ext cx="5394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une premiere CNIB, il vous faut : un acte de naissance, un certificat de residence, 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photos d'identite et le paiement de 2 500 F CFA. Delai estime : 7 a 30 jours.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697480" y="480060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demarche CNIB - police.gov.bf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68880" y="5623560"/>
            <a:ext cx="7223760" cy="502920"/>
          </a:xfrm>
          <a:prstGeom prst="roundRect">
            <a:avLst>
              <a:gd name="adj" fmla="val 45455"/>
            </a:avLst>
          </a:prstGeom>
          <a:solidFill>
            <a:srgbClr val="FFFFFF"/>
          </a:solidFill>
          <a:ln w="12700">
            <a:solidFill>
              <a:srgbClr val="D8E3D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97480" y="5623560"/>
            <a:ext cx="640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Ecrivez votre question...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: pertinence et fiabilite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Conformement a l'etape 4 du sujet, evaluation sur un jeu de questions couvrant les 3 demarches et des cas hors perimetre (evaluation/test_questions.json, evaluate.py).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F6F4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560320"/>
            <a:ext cx="777240" cy="777240"/>
          </a:xfrm>
          <a:prstGeom prst="ellipse">
            <a:avLst/>
          </a:prstGeom>
          <a:solidFill>
            <a:srgbClr val="164F3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279" y="2735199"/>
            <a:ext cx="427482" cy="42748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3520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Pertinence du retrieval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4023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chaque question, on verifie que les segments recuperes par ChromaDB correspondent a la demarche attendue.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6263640" y="2194560"/>
            <a:ext cx="5349240" cy="3383280"/>
          </a:xfrm>
          <a:prstGeom prst="roundRect">
            <a:avLst>
              <a:gd name="adj" fmla="val 2703"/>
            </a:avLst>
          </a:prstGeom>
          <a:solidFill>
            <a:srgbClr val="1F6F4D"/>
          </a:solidFill>
          <a:ln/>
          <a:effectLst>
            <a:outerShdw sx="100000" sy="100000" kx="0" ky="0" algn="bl" rotWithShape="0" blurRad="101600" dist="38100" dir="54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629400" y="2560320"/>
            <a:ext cx="777240" cy="777240"/>
          </a:xfrm>
          <a:prstGeom prst="ellipse">
            <a:avLst/>
          </a:prstGeom>
          <a:solidFill>
            <a:srgbClr val="164F3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4279" y="2735199"/>
            <a:ext cx="427482" cy="42748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629400" y="3520440"/>
            <a:ext cx="4617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Taux d'hallucination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629400" y="4023360"/>
            <a:ext cx="4617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3F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 les questions hors perimetre, on verifie que l'agent repond par la formule de repli plutot que d'inventer une reponse.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 et perspectives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548640" y="18288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limitee a trois demarches administratives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Dependance a la stabilite des portails officiels pour les montants et delais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Modele d'embeddings generaliste, non specialise sur le francais administratif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309360" y="1280160"/>
            <a:ext cx="5303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Perspectives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309360" y="1828800"/>
            <a:ext cx="53949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Etendre a d'autres demarches (permis de conduire, etat civil)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Affiner les embeddings avec un modele specialise francais administratif</a:t>
            </a:r>
            <a:endParaRPr lang="en-US" sz="14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Mettre en place une veille automatique des changements reglementaires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434840"/>
            <a:ext cx="11064240" cy="1417320"/>
          </a:xfrm>
          <a:prstGeom prst="roundRect">
            <a:avLst>
              <a:gd name="adj" fmla="val 5161"/>
            </a:avLst>
          </a:prstGeom>
          <a:solidFill>
            <a:srgbClr val="F1F6F2"/>
          </a:solidFill>
          <a:ln/>
        </p:spPr>
      </p:sp>
      <p:sp>
        <p:nvSpPr>
          <p:cNvPr id="8" name="Shape 6"/>
          <p:cNvSpPr/>
          <p:nvPr/>
        </p:nvSpPr>
        <p:spPr>
          <a:xfrm>
            <a:off x="868680" y="4754880"/>
            <a:ext cx="777240" cy="7772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4128" y="4910328"/>
            <a:ext cx="466344" cy="46634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874520" y="4663440"/>
            <a:ext cx="95097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pipeline (PDF -&gt; index -&gt; API) est entierement reutilisable : ajouter une demarche revient a sourcer un nouveau PDF verifie et relancer l'indexation.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3291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Planning et livrables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1673352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5448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Semaine 1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1554480" y="1828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Cahier des charges, sourcing des donnees, pipeline d'ingestion et API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263640" y="1325880"/>
            <a:ext cx="5349240" cy="1463040"/>
          </a:xfrm>
          <a:prstGeom prst="roundRect">
            <a:avLst>
              <a:gd name="adj" fmla="val 6250"/>
            </a:avLst>
          </a:prstGeom>
          <a:solidFill>
            <a:srgbClr val="F1F6F2"/>
          </a:solidFill>
          <a:ln/>
        </p:spPr>
      </p:sp>
      <p:sp>
        <p:nvSpPr>
          <p:cNvPr id="9" name="Shape 6"/>
          <p:cNvSpPr/>
          <p:nvPr/>
        </p:nvSpPr>
        <p:spPr>
          <a:xfrm>
            <a:off x="6537960" y="1554480"/>
            <a:ext cx="594360" cy="59436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6832" y="1673352"/>
            <a:ext cx="356616" cy="35661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269480" y="14630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Semaine 2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7269480" y="182880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React, integration, evaluation, deploiement, rapport et soutenance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48640" y="3154680"/>
            <a:ext cx="10789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 attendus</a:t>
            </a:r>
            <a:endParaRPr lang="en-US" sz="1800" dirty="0"/>
          </a:p>
        </p:txBody>
      </p:sp>
      <p:sp>
        <p:nvSpPr>
          <p:cNvPr id="14" name="Shape 10"/>
          <p:cNvSpPr/>
          <p:nvPr/>
        </p:nvSpPr>
        <p:spPr>
          <a:xfrm>
            <a:off x="548640" y="37033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1965960" y="3931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2264" y="407822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7724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source GitHub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82296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d'ingestion, API FastAPI, frontend React, requirements.txt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343400" y="37033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5760720" y="3931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7024" y="407822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457200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 deployee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461772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Render + frontend Vercel, lien public fonctionnel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8138160" y="3703320"/>
            <a:ext cx="3566160" cy="2286000"/>
          </a:xfrm>
          <a:prstGeom prst="roundRect">
            <a:avLst>
              <a:gd name="adj" fmla="val 4000"/>
            </a:avLst>
          </a:prstGeom>
          <a:solidFill>
            <a:srgbClr val="F1F6F2"/>
          </a:solidFill>
          <a:ln/>
          <a:effectLst>
            <a:outerShdw sx="100000" sy="100000" kx="0" ky="0" algn="bl" rotWithShape="0" blurRad="762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9555480" y="393192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1784" y="4078224"/>
            <a:ext cx="438912" cy="438912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8366760" y="4800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F6F4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Rapport technique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8412480" y="521208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32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Architecture, methodologie, limites et perspectives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242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00116" y="1371600"/>
            <a:ext cx="1188720" cy="1188720"/>
          </a:xfrm>
          <a:prstGeom prst="ellipse">
            <a:avLst/>
          </a:prstGeom>
          <a:solidFill>
            <a:srgbClr val="1A5039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7860" y="160934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743200"/>
            <a:ext cx="121889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Merci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121889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D9A5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et demonstration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0" y="4709160"/>
            <a:ext cx="12188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9C4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GuichetIA - OUEDRAOGO Zeid El Gazeli . DICKO Mamoudou . OUEDRAOGO Abdoul Kader W. Ghislan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GuichetIA - Soutenance</dc:title>
  <dc:subject>PptxGenJS Presentation</dc:subject>
  <dc:creator>Equipe GuichetIA</dc:creator>
  <cp:lastModifiedBy>Equipe GuichetIA</cp:lastModifiedBy>
  <cp:revision>1</cp:revision>
  <dcterms:created xsi:type="dcterms:W3CDTF">2026-06-29T16:33:38Z</dcterms:created>
  <dcterms:modified xsi:type="dcterms:W3CDTF">2026-06-29T16:33:38Z</dcterms:modified>
</cp:coreProperties>
</file>